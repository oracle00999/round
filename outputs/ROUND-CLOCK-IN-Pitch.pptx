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e098bb29ec43ac" /><Relationship Type="http://schemas.openxmlformats.org/officeDocument/2006/relationships/extended-properties" Target="/docProps/app.xml" Id="R862acb9973cc41e6" /><Relationship Type="http://schemas.openxmlformats.org/officeDocument/2006/relationships/officeDocument" Target="/ppt/presentation.xml" Id="Rd08d42a15d3d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686ebb4fc463d"/>
  </p:sldMasterIdLst>
  <p:notesMasterIdLst>
    <p:notesMasterId xmlns:r="http://schemas.openxmlformats.org/officeDocument/2006/relationships" r:id="R358674272cad4294"/>
  </p:notesMasterIdLst>
  <p:sldIdLst>
    <p:sldId xmlns:r="http://schemas.openxmlformats.org/officeDocument/2006/relationships" id="256" r:id="R8f94aa481b924f8f"/>
    <p:sldId xmlns:r="http://schemas.openxmlformats.org/officeDocument/2006/relationships" id="257" r:id="Ra2a535c4144d4570"/>
    <p:sldId xmlns:r="http://schemas.openxmlformats.org/officeDocument/2006/relationships" id="258" r:id="R9c3a2fe1e47f4828"/>
    <p:sldId xmlns:r="http://schemas.openxmlformats.org/officeDocument/2006/relationships" id="259" r:id="R86bf3588d5824328"/>
    <p:sldId xmlns:r="http://schemas.openxmlformats.org/officeDocument/2006/relationships" id="260" r:id="R0b32137d63074de5"/>
    <p:sldId xmlns:r="http://schemas.openxmlformats.org/officeDocument/2006/relationships" id="261" r:id="R8c60b0a0f8254157"/>
    <p:sldId xmlns:r="http://schemas.openxmlformats.org/officeDocument/2006/relationships" id="262" r:id="Raa905f2797af41bb"/>
    <p:sldId xmlns:r="http://schemas.openxmlformats.org/officeDocument/2006/relationships" id="263" r:id="R3e398597e4c644c3"/>
    <p:sldId xmlns:r="http://schemas.openxmlformats.org/officeDocument/2006/relationships" id="264" r:id="Rad429b7cf6934b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bfab575c5488f" /><Relationship Type="http://schemas.openxmlformats.org/officeDocument/2006/relationships/slideMaster" Target="/ppt/slideMasters/slideMaster1.xml" Id="R8f3686ebb4fc463d" /><Relationship Type="http://schemas.openxmlformats.org/officeDocument/2006/relationships/notesMaster" Target="/ppt/notesMasters/notesMaster1.xml" Id="R358674272cad4294" /><Relationship Type="http://schemas.openxmlformats.org/officeDocument/2006/relationships/presProps" Target="/ppt/presProps.xml" Id="R62594bb6d5de414d" /><Relationship Type="http://schemas.openxmlformats.org/officeDocument/2006/relationships/tableStyles" Target="/ppt/tableStyles.xml" Id="Rfc744591a39b4491" /><Relationship Type="http://schemas.openxmlformats.org/officeDocument/2006/relationships/slide" Target="/ppt/slides/slide1.xml" Id="R8f94aa481b924f8f" /><Relationship Type="http://schemas.openxmlformats.org/officeDocument/2006/relationships/slide" Target="/ppt/slides/slide2.xml" Id="Ra2a535c4144d4570" /><Relationship Type="http://schemas.openxmlformats.org/officeDocument/2006/relationships/slide" Target="/ppt/slides/slide3.xml" Id="R9c3a2fe1e47f4828" /><Relationship Type="http://schemas.openxmlformats.org/officeDocument/2006/relationships/slide" Target="/ppt/slides/slide4.xml" Id="R86bf3588d5824328" /><Relationship Type="http://schemas.openxmlformats.org/officeDocument/2006/relationships/slide" Target="/ppt/slides/slide5.xml" Id="R0b32137d63074de5" /><Relationship Type="http://schemas.openxmlformats.org/officeDocument/2006/relationships/slide" Target="/ppt/slides/slide6.xml" Id="R8c60b0a0f8254157" /><Relationship Type="http://schemas.openxmlformats.org/officeDocument/2006/relationships/slide" Target="/ppt/slides/slide7.xml" Id="Raa905f2797af41bb" /><Relationship Type="http://schemas.openxmlformats.org/officeDocument/2006/relationships/slide" Target="/ppt/slides/slide8.xml" Id="R3e398597e4c644c3" /><Relationship Type="http://schemas.openxmlformats.org/officeDocument/2006/relationships/slide" Target="/ppt/slides/slide9.xml" Id="Rad429b7cf693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0789ae9a948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372cc2cd04b7c" /><Relationship Type="http://schemas.openxmlformats.org/officeDocument/2006/relationships/notesMaster" Target="/ppt/notesMasters/notesMaster1.xml" Id="R27d66476a9a14f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451d90b72c4ca6" /><Relationship Type="http://schemas.openxmlformats.org/officeDocument/2006/relationships/notesMaster" Target="/ppt/notesMasters/notesMaster1.xml" Id="Rdb029d0692af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e983c8bc464a8c" /><Relationship Type="http://schemas.openxmlformats.org/officeDocument/2006/relationships/notesMaster" Target="/ppt/notesMasters/notesMaster1.xml" Id="R792e0c235a77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aa68cc05eb495e" /><Relationship Type="http://schemas.openxmlformats.org/officeDocument/2006/relationships/notesMaster" Target="/ppt/notesMasters/notesMaster1.xml" Id="R9ba0ce10a3ca4e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0262cca80f4810" /><Relationship Type="http://schemas.openxmlformats.org/officeDocument/2006/relationships/notesMaster" Target="/ppt/notesMasters/notesMaster1.xml" Id="R869a543957d64b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9d37efea942b5" /><Relationship Type="http://schemas.openxmlformats.org/officeDocument/2006/relationships/notesMaster" Target="/ppt/notesMasters/notesMaster1.xml" Id="Rc006b6fb53f54e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64f6439e74454d" /><Relationship Type="http://schemas.openxmlformats.org/officeDocument/2006/relationships/notesMaster" Target="/ppt/notesMasters/notesMaster1.xml" Id="Ra6d1900d88b046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ca2a94894a49ad" /><Relationship Type="http://schemas.openxmlformats.org/officeDocument/2006/relationships/notesMaster" Target="/ppt/notesMasters/notesMaster1.xml" Id="Rd5936266c7dd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6cdc6ac204617" /><Relationship Type="http://schemas.openxmlformats.org/officeDocument/2006/relationships/notesMaster" Target="/ppt/notesMasters/notesMaster1.xml" Id="Rf90f56519752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ROUND is a mobile group savings and commitment app. The submission demonstrates real Solana devnet transactions with test tokens. Source: ROUND application and contract in github.com/Oracle00999/round. No mainnet launch or independent audit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problem and design hypothesis, not a claim from a market survey. Initial use cases include friends saving for travel, devices and other planned expenses.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create_round fixes schedule and amounts; join_round creates member savings/bond vaults; withdraw checks the on-chain end time and member authority. No administrator withdrawal instruction is present in current code. Upgrade authority still exists, so this is not an immutability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app journey. Creating also joins the creator; USDC is paid separately after the start. Joining closes at the start. Each member can make one fixed contribution per period. The presentation uses a two-minute start delay and three-minute periods, with labelled edits across waiting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SKR bond is configured by the creator and is the same required amount for each member of that ROUND. The feature is optional at creation. Current deployment uses a custom devnet SKR test mint, not real mainnet SKR. This is a time lock, not staking and not yield.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ROUND Home screen captured on the connected Seeker. Implemented with React Native / Expo, Mobile Wallet Adapter and local Android notifications. Alert delivery depends on permissions and Android scheduling. Seeker is the current tested wallet.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latest successful 57-test run in .local/tests-mainnet.log includes 11 actual SBF integration tests. Phone success was confirmed by the user for creation and loading. Full two-account phone lifecycle and all notification delivery states remain validation work. Testing is not an independent security audit. Mainnet work is paused.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launch and validation steps, not achieved user traction. No active-user counts, revenue or partnerships have been invented. Mainnet rollout requires further verification and funding.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https://github.com/Oracle00999/round. Submission: CLOCK IN Solana Mobile Hackathon. Devnet demonstration only; test tokens have no monetary value. This deck accompanies the functional APK and the separate three-minute demo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8a1bf8cd4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775ed8fa57490d" /><Relationship Type="http://schemas.openxmlformats.org/officeDocument/2006/relationships/slideLayout" Target="/ppt/slideLayouts/slideLayout1.xml" Id="R31016c625bdf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16c625bdf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56336591e4d76" /><Relationship Type="http://schemas.openxmlformats.org/officeDocument/2006/relationships/notesSlide" Target="/ppt/notesSlides/notesSlide1.xml" Id="Rca012406248d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3637a01574cb0" /><Relationship Type="http://schemas.openxmlformats.org/officeDocument/2006/relationships/notesSlide" Target="/ppt/notesSlides/notesSlide2.xml" Id="Rb6545a6485ac4f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4ccda1d0c4b33" /><Relationship Type="http://schemas.openxmlformats.org/officeDocument/2006/relationships/notesSlide" Target="/ppt/notesSlides/notesSlide3.xml" Id="Re9c917e7e8ac4b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35cc3bc047c5" /><Relationship Type="http://schemas.openxmlformats.org/officeDocument/2006/relationships/notesSlide" Target="/ppt/notesSlides/notesSlide4.xml" Id="Re048c5e4e33f49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91531a1db43eb" /><Relationship Type="http://schemas.openxmlformats.org/officeDocument/2006/relationships/notesSlide" Target="/ppt/notesSlides/notesSlide5.xml" Id="R2e0d1f15683f41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3f1bef0814cdd" /><Relationship Type="http://schemas.openxmlformats.org/officeDocument/2006/relationships/image" Target="/ppt/media/image.png" Id="Re7bf08f0b6d4468d" /><Relationship Type="http://schemas.openxmlformats.org/officeDocument/2006/relationships/notesSlide" Target="/ppt/notesSlides/notesSlide6.xml" Id="R2200ee9c78ff46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6f1fd85be4bc4" /><Relationship Type="http://schemas.openxmlformats.org/officeDocument/2006/relationships/notesSlide" Target="/ppt/notesSlides/notesSlide7.xml" Id="Rd153df7573af4e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bb48bc6d445f3" /><Relationship Type="http://schemas.openxmlformats.org/officeDocument/2006/relationships/notesSlide" Target="/ppt/notesSlides/notesSlide8.xml" Id="R83a1a53398c04d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21b98b094552" /><Relationship Type="http://schemas.openxmlformats.org/officeDocument/2006/relationships/notesSlide" Target="/ppt/notesSlides/notesSlide9.xml" Id="R2a6301a09e25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ABA21705-83AE-42F3-95DE-5EAB7D5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· SOLANA MOBILE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F581A2-F54C-4D61-B8CB-A4F5482F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Save together.
Stay committed.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49204053-E489-4387-A5DF-923B17E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1912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round.</a:t>
            </a:r>
          </a:p>
        </p:txBody>
      </p:sp>
      <p:sp>
        <p:nvSpPr>
          <p:cNvPr id="4" name="promise">
            <a:extLst xmlns:a="http://schemas.openxmlformats.org/drawingml/2006/main">
              <a:ext uri="{FF2B5EF4-FFF2-40B4-BE49-F238E27FC236}">
                <a16:creationId xmlns:a16="http://schemas.microsoft.com/office/drawing/2014/main" id="{33A1476F-A995-4553-AFBE-635C06F2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8953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Shared savings goals.
Separate on-chain vaults.</a:t>
            </a:r>
          </a:p>
        </p:txBody>
      </p:sp>
      <p:sp>
        <p:nvSpPr>
          <p:cNvPr id="5" name="status">
            <a:extLst xmlns:a="http://schemas.openxmlformats.org/drawingml/2006/main">
              <a:ext uri="{FF2B5EF4-FFF2-40B4-BE49-F238E27FC236}">
                <a16:creationId xmlns:a16="http://schemas.microsoft.com/office/drawing/2014/main" id="{FFC759E2-CD07-45C4-852E-AD6CE920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76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Built for Seeker · Working Android app on devnet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620E551-EB40-48C1-A4FA-E1AED9F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42419D2-7191-41B2-837A-00F7940C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847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EFACC18-72BA-422D-B08C-1CDD3F8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C70C23-219A-4521-BC9A-EDF8CC11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Friends can share a goal.
Holding the money is harder.</a:t>
            </a:r>
          </a:p>
        </p:txBody>
      </p:sp>
      <p:sp>
        <p:nvSpPr>
          <p:cNvPr id="3" name="left-head">
            <a:extLst xmlns:a="http://schemas.openxmlformats.org/drawingml/2006/main">
              <a:ext uri="{FF2B5EF4-FFF2-40B4-BE49-F238E27FC236}">
                <a16:creationId xmlns:a16="http://schemas.microsoft.com/office/drawing/2014/main" id="{D6DF7ACB-77CD-4FF4-A916-45C57224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Saving alone</a:t>
            </a:r>
          </a:p>
        </p:txBody>
      </p:sp>
      <p:sp>
        <p:nvSpPr>
          <p:cNvPr id="4" name="left-body">
            <a:extLst xmlns:a="http://schemas.openxmlformats.org/drawingml/2006/main">
              <a:ext uri="{FF2B5EF4-FFF2-40B4-BE49-F238E27FC236}">
                <a16:creationId xmlns:a16="http://schemas.microsoft.com/office/drawing/2014/main" id="{F95536F2-A3AA-4938-A231-B313FDA0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81012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A goal is easy to postpone.
Progress stays invisible to the group.</a:t>
            </a:r>
          </a:p>
        </p:txBody>
      </p:sp>
      <p:sp>
        <p:nvSpPr>
          <p:cNvPr id="5" name="right-head">
            <a:extLst xmlns:a="http://schemas.openxmlformats.org/drawingml/2006/main">
              <a:ext uri="{FF2B5EF4-FFF2-40B4-BE49-F238E27FC236}">
                <a16:creationId xmlns:a16="http://schemas.microsoft.com/office/drawing/2014/main" id="{5BAF9230-2015-4E78-80D7-8785282C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51625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Handing money to a treasurer</a:t>
            </a:r>
          </a:p>
        </p:txBody>
      </p:sp>
      <p:sp>
        <p:nvSpPr>
          <p:cNvPr id="6" name="right-body">
            <a:extLst xmlns:a="http://schemas.openxmlformats.org/drawingml/2006/main">
              <a:ext uri="{FF2B5EF4-FFF2-40B4-BE49-F238E27FC236}">
                <a16:creationId xmlns:a16="http://schemas.microsoft.com/office/drawing/2014/main" id="{F63B605F-3836-4CD0-8E63-BD0E68AF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One person holds the funds
and coordinates everyone’s payout.</a:t>
            </a:r>
          </a:p>
        </p:txBody>
      </p:sp>
      <p:sp>
        <p:nvSpPr>
          <p:cNvPr id="7" name="insight">
            <a:extLst xmlns:a="http://schemas.openxmlformats.org/drawingml/2006/main">
              <a:ext uri="{FF2B5EF4-FFF2-40B4-BE49-F238E27FC236}">
                <a16:creationId xmlns:a16="http://schemas.microsoft.com/office/drawing/2014/main" id="{53DE028B-56AC-4422-9D73-0FEFEA7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ROUND pairs shared accountability with individual savings vaults.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6590B6B-8700-4FE2-B0D1-D571B02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A855360-2405-4ADD-B6D7-A4411497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7219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5A1F40D-C819-4546-91AE-719647A0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THE PRODUCT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D0B959-9940-4E4C-BCD5-A5B03F9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One agreement.
Each member’s savings stay separate.</a:t>
            </a:r>
          </a:p>
        </p:txBody>
      </p:sp>
      <p:sp>
        <p:nvSpPr>
          <p:cNvPr id="3" name="agreement-title">
            <a:extLst xmlns:a="http://schemas.openxmlformats.org/drawingml/2006/main">
              <a:ext uri="{FF2B5EF4-FFF2-40B4-BE49-F238E27FC236}">
                <a16:creationId xmlns:a16="http://schemas.microsoft.com/office/drawing/2014/main" id="{4F6B9B5D-8729-4767-BE41-ACF0F785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495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Agree together</a:t>
            </a:r>
          </a:p>
        </p:txBody>
      </p:sp>
      <p:sp>
        <p:nvSpPr>
          <p:cNvPr id="4" name="agreement-body">
            <a:extLst xmlns:a="http://schemas.openxmlformats.org/drawingml/2006/main">
              <a:ext uri="{FF2B5EF4-FFF2-40B4-BE49-F238E27FC236}">
                <a16:creationId xmlns:a16="http://schemas.microsoft.com/office/drawing/2014/main" id="{9BD30A1E-DD58-4F04-9B2F-9AEA846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953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Set the contribution amount,
payment schedule and unlock date.
Share an invitation to join.</a:t>
            </a:r>
          </a:p>
        </p:txBody>
      </p:sp>
      <p:sp>
        <p:nvSpPr>
          <p:cNvPr id="5" name="ownership-title">
            <a:extLst xmlns:a="http://schemas.openxmlformats.org/drawingml/2006/main">
              <a:ext uri="{FF2B5EF4-FFF2-40B4-BE49-F238E27FC236}">
                <a16:creationId xmlns:a16="http://schemas.microsoft.com/office/drawing/2014/main" id="{B79129FA-1786-4BFB-BAA2-B7ACE6F4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Withdraw independently</a:t>
            </a:r>
          </a:p>
        </p:txBody>
      </p:sp>
      <p:sp>
        <p:nvSpPr>
          <p:cNvPr id="6" name="ownership-body">
            <a:extLst xmlns:a="http://schemas.openxmlformats.org/drawingml/2006/main">
              <a:ext uri="{FF2B5EF4-FFF2-40B4-BE49-F238E27FC236}">
                <a16:creationId xmlns:a16="http://schemas.microsoft.com/office/drawing/2014/main" id="{C733CAB6-0B45-48B6-9634-1A9FDE60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5162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Each member has a USDC vault.
After unlock, recover what you saved—
even if you missed a contribution.</a:t>
            </a:r>
          </a:p>
        </p:txBody>
      </p:sp>
      <p:sp>
        <p:nvSpPr>
          <p:cNvPr id="7" name="note">
            <a:extLst xmlns:a="http://schemas.openxmlformats.org/drawingml/2006/main">
              <a:ext uri="{FF2B5EF4-FFF2-40B4-BE49-F238E27FC236}">
                <a16:creationId xmlns:a16="http://schemas.microsoft.com/office/drawing/2014/main" id="{7E1E407F-C687-459E-8A89-973517E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No rotating group payout. No member acts as treasurer.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814D56A-AF57-475E-B459-E949CAD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43CF0490-C364-47C6-9F24-C9705F5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8397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58C25D6B-CA87-46AB-8F34-B024C66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THE EXPERIENCE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E6F5C8-20F2-432B-8921-BD288275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A simple habit, from invite to withdrawal.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2EBB4374-3F28-4557-BC30-8E3103C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286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A8CBBCC4-F5FC-4190-97A8-7CEB6FEE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Create</a:t>
            </a:r>
          </a:p>
        </p:txBody>
      </p:sp>
      <p:sp>
        <p:nvSpPr>
          <p:cNvPr id="5" name="copy-0">
            <a:extLst xmlns:a="http://schemas.openxmlformats.org/drawingml/2006/main">
              <a:ext uri="{FF2B5EF4-FFF2-40B4-BE49-F238E27FC236}">
                <a16:creationId xmlns:a16="http://schemas.microsoft.com/office/drawing/2014/main" id="{959D7AE9-57AB-4E18-9E8A-77BA29D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76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Set a goal, payment schedule and optional commitment lock.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09CFC14-F00D-446B-B0CB-748C0C40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2286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182D4391-A355-44D4-957B-617D409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38575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Invite</a:t>
            </a:r>
          </a:p>
        </p:txBody>
      </p:sp>
      <p:sp>
        <p:nvSpPr>
          <p:cNvPr id="8" name="copy-1">
            <a:extLst xmlns:a="http://schemas.openxmlformats.org/drawingml/2006/main">
              <a:ext uri="{FF2B5EF4-FFF2-40B4-BE49-F238E27FC236}">
                <a16:creationId xmlns:a16="http://schemas.microsoft.com/office/drawing/2014/main" id="{E12A845C-9EFF-4277-9E74-9B91ED87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2476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Friends review the rules and join with their own wallets.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0C99DF99-AA4C-4343-BB58-6581E4B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2286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711B3A5A-9D00-47D7-8DE9-CFE3E6A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38575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Contribute</a:t>
            </a:r>
          </a:p>
        </p:txBody>
      </p:sp>
      <p:sp>
        <p:nvSpPr>
          <p:cNvPr id="11" name="copy-2">
            <a:extLst xmlns:a="http://schemas.openxmlformats.org/drawingml/2006/main">
              <a:ext uri="{FF2B5EF4-FFF2-40B4-BE49-F238E27FC236}">
                <a16:creationId xmlns:a16="http://schemas.microsoft.com/office/drawing/2014/main" id="{2A3A1034-E693-4BCB-A03D-251AAE5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2476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Approve each USDC payment. Follow your group’s progress.</a:t>
            </a:r>
          </a:p>
        </p:txBody>
      </p:sp>
      <p:sp>
        <p:nvSpPr>
          <p:cNvPr id="12" name="number-3">
            <a:extLst xmlns:a="http://schemas.openxmlformats.org/drawingml/2006/main">
              <a:ext uri="{FF2B5EF4-FFF2-40B4-BE49-F238E27FC236}">
                <a16:creationId xmlns:a16="http://schemas.microsoft.com/office/drawing/2014/main" id="{6E167A9F-7423-4C16-BC1C-D4AE61B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286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77C75AB-4423-4222-BA70-97CFD76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38575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Withdraw</a:t>
            </a:r>
          </a:p>
        </p:txBody>
      </p:sp>
      <p:sp>
        <p:nvSpPr>
          <p:cNvPr id="14" name="copy-3">
            <a:extLst xmlns:a="http://schemas.openxmlformats.org/drawingml/2006/main">
              <a:ext uri="{FF2B5EF4-FFF2-40B4-BE49-F238E27FC236}">
                <a16:creationId xmlns:a16="http://schemas.microsoft.com/office/drawing/2014/main" id="{1E589AF2-6845-43AC-B821-A9A5648B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476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Claim your savings and any bond after unlock. No group approval.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B766F46B-C239-4505-AD0A-D97171DD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9984BCFE-A0D3-4486-B649-1BD27F5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017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257E28C-AE15-4849-9474-6412B99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SKR INTEGRATION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0168C5-1296-4DE5-B476-167A0CAD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Commit to the goal.
Get your bond back.</a:t>
            </a:r>
          </a:p>
        </p:txBody>
      </p:sp>
      <p:sp>
        <p:nvSpPr>
          <p:cNvPr id="3" name="skr">
            <a:extLst xmlns:a="http://schemas.openxmlformats.org/drawingml/2006/main">
              <a:ext uri="{FF2B5EF4-FFF2-40B4-BE49-F238E27FC236}">
                <a16:creationId xmlns:a16="http://schemas.microsoft.com/office/drawing/2014/main" id="{D8DCE457-EE60-429A-A892-039B94F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857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SKR</a:t>
            </a:r>
          </a:p>
        </p:txBody>
      </p:sp>
      <p:sp>
        <p:nvSpPr>
          <p:cNvPr id="4" name="skr-sub">
            <a:extLst xmlns:a="http://schemas.openxmlformats.org/drawingml/2006/main">
              <a:ext uri="{FF2B5EF4-FFF2-40B4-BE49-F238E27FC236}">
                <a16:creationId xmlns:a16="http://schemas.microsoft.com/office/drawing/2014/main" id="{65B69C13-3069-47AA-AC12-9B2C957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857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An optional bond
for a shared commitment.</a:t>
            </a:r>
          </a:p>
        </p:txBody>
      </p:sp>
      <p:sp>
        <p:nvSpPr>
          <p:cNvPr id="5" name="bond-1">
            <a:extLst xmlns:a="http://schemas.openxmlformats.org/drawingml/2006/main">
              <a:ext uri="{FF2B5EF4-FFF2-40B4-BE49-F238E27FC236}">
                <a16:creationId xmlns:a16="http://schemas.microsoft.com/office/drawing/2014/main" id="{4493F041-63A8-4D62-B949-48E4C99C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Locked when you join</a:t>
            </a:r>
          </a:p>
        </p:txBody>
      </p:sp>
      <p:sp>
        <p:nvSpPr>
          <p:cNvPr id="6" name="bond-1b">
            <a:extLst xmlns:a="http://schemas.openxmlformats.org/drawingml/2006/main">
              <a:ext uri="{FF2B5EF4-FFF2-40B4-BE49-F238E27FC236}">
                <a16:creationId xmlns:a16="http://schemas.microsoft.com/office/drawing/2014/main" id="{8AFD2582-0B3C-4395-8995-6CFFD7DC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1625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The chosen SKR amount enters
your separate bond vault.</a:t>
            </a:r>
          </a:p>
        </p:txBody>
      </p:sp>
      <p:sp>
        <p:nvSpPr>
          <p:cNvPr id="7" name="bond-2">
            <a:extLst xmlns:a="http://schemas.openxmlformats.org/drawingml/2006/main">
              <a:ext uri="{FF2B5EF4-FFF2-40B4-BE49-F238E27FC236}">
                <a16:creationId xmlns:a16="http://schemas.microsoft.com/office/drawing/2014/main" id="{5DF27265-3864-4556-AD35-B70CD801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Returned after unlock</a:t>
            </a:r>
          </a:p>
        </p:txBody>
      </p:sp>
      <p:sp>
        <p:nvSpPr>
          <p:cNvPr id="8" name="bond-2b">
            <a:extLst xmlns:a="http://schemas.openxmlformats.org/drawingml/2006/main">
              <a:ext uri="{FF2B5EF4-FFF2-40B4-BE49-F238E27FC236}">
                <a16:creationId xmlns:a16="http://schemas.microsoft.com/office/drawing/2014/main" id="{ED815411-BDAC-4FC8-9111-5B47800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5162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Returned in full, even with missed
contributions. No slashing or yield.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29C620A-D40A-4BCD-A626-5713CA1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C2E5A99E-93A9-43B2-B174-F477DD6F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5959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4AFB32C-7D78-4AE3-BDC6-0638CD1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BUILT FOR SEEKER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7C5BFB-B969-4145-A79B-FD191910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Your savings, on your phone.</a:t>
            </a:r>
          </a:p>
        </p:txBody>
      </p:sp>
      <p:sp>
        <p:nvSpPr>
          <p:cNvPr id="3" name="wallet-title">
            <a:extLst xmlns:a="http://schemas.openxmlformats.org/drawingml/2006/main">
              <a:ext uri="{FF2B5EF4-FFF2-40B4-BE49-F238E27FC236}">
                <a16:creationId xmlns:a16="http://schemas.microsoft.com/office/drawing/2014/main" id="{42C6D6D3-5F2F-4DBA-9F1D-217D5F4C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Approve with Seeker Wallet</a:t>
            </a:r>
          </a:p>
        </p:txBody>
      </p:sp>
      <p:sp>
        <p:nvSpPr>
          <p:cNvPr id="4" name="wallet-body">
            <a:extLst xmlns:a="http://schemas.openxmlformats.org/drawingml/2006/main">
              <a:ext uri="{FF2B5EF4-FFF2-40B4-BE49-F238E27FC236}">
                <a16:creationId xmlns:a16="http://schemas.microsoft.com/office/drawing/2014/main" id="{3DDDCDAF-E1F7-4F5E-9097-36E5E594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76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Connect through Mobile Wallet Adapter.
Review and approve every payment.</a:t>
            </a:r>
          </a:p>
        </p:txBody>
      </p:sp>
      <p:sp>
        <p:nvSpPr>
          <p:cNvPr id="5" name="routine-title">
            <a:extLst xmlns:a="http://schemas.openxmlformats.org/drawingml/2006/main">
              <a:ext uri="{FF2B5EF4-FFF2-40B4-BE49-F238E27FC236}">
                <a16:creationId xmlns:a16="http://schemas.microsoft.com/office/drawing/2014/main" id="{08918438-1430-49F1-B2A2-07436B96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76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Know when to act</a:t>
            </a:r>
          </a:p>
        </p:txBody>
      </p:sp>
      <p:sp>
        <p:nvSpPr>
          <p:cNvPr id="6" name="routine-body">
            <a:extLst xmlns:a="http://schemas.openxmlformats.org/drawingml/2006/main">
              <a:ext uri="{FF2B5EF4-FFF2-40B4-BE49-F238E27FC236}">
                <a16:creationId xmlns:a16="http://schemas.microsoft.com/office/drawing/2014/main" id="{71C78DCF-E124-4098-B891-464FF88E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76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Local reminders, payment receipts
and your group’s savings progress.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74D913F-F424-4285-BC7C-C45B6E04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752C8650-1AC0-44C6-B9A0-0AC213F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f08f0b6d4468d"/>
          <a:stretch xmlns:a="http://schemas.openxmlformats.org/drawingml/2006/main"/>
        </p:blipFill>
        <p:spPr>
          <a:xfrm xmlns:a="http://schemas.openxmlformats.org/drawingml/2006/main">
            <a:off x="8544246" y="1581150"/>
            <a:ext cx="2037708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7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DB8A720-FBB7-4D0F-A450-034E897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BUILT AND CHECKED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E43E36-CD43-407B-9A4E-FD4C127C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A working devnet product,
with contract tests behind it.</a:t>
            </a:r>
          </a:p>
        </p:txBody>
      </p:sp>
      <p:sp>
        <p:nvSpPr>
          <p:cNvPr id="3" name="tests-number">
            <a:extLst xmlns:a="http://schemas.openxmlformats.org/drawingml/2006/main">
              <a:ext uri="{FF2B5EF4-FFF2-40B4-BE49-F238E27FC236}">
                <a16:creationId xmlns:a16="http://schemas.microsoft.com/office/drawing/2014/main" id="{85B2A8E9-BFEE-4564-8F16-AB78BBB3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57</a:t>
            </a:r>
          </a:p>
        </p:txBody>
      </p:sp>
      <p:sp>
        <p:nvSpPr>
          <p:cNvPr id="4" name="tests-label">
            <a:extLst xmlns:a="http://schemas.openxmlformats.org/drawingml/2006/main">
              <a:ext uri="{FF2B5EF4-FFF2-40B4-BE49-F238E27FC236}">
                <a16:creationId xmlns:a16="http://schemas.microsoft.com/office/drawing/2014/main" id="{92EA42F4-B057-43DA-9432-5FF1A64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automated tests passing</a:t>
            </a:r>
          </a:p>
        </p:txBody>
      </p:sp>
      <p:sp>
        <p:nvSpPr>
          <p:cNvPr id="5" name="tests-detail">
            <a:extLst xmlns:a="http://schemas.openxmlformats.org/drawingml/2006/main">
              <a:ext uri="{FF2B5EF4-FFF2-40B4-BE49-F238E27FC236}">
                <a16:creationId xmlns:a16="http://schemas.microsoft.com/office/drawing/2014/main" id="{E959F1D1-CFAD-49A8-92AB-4CE9EF3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4953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Including 11 tests executing
the compiled Solana program.</a:t>
            </a:r>
          </a:p>
        </p:txBody>
      </p:sp>
      <p:sp>
        <p:nvSpPr>
          <p:cNvPr id="6" name="device-title">
            <a:extLst xmlns:a="http://schemas.openxmlformats.org/drawingml/2006/main">
              <a:ext uri="{FF2B5EF4-FFF2-40B4-BE49-F238E27FC236}">
                <a16:creationId xmlns:a16="http://schemas.microsoft.com/office/drawing/2014/main" id="{871FAA82-34A1-4220-9457-FCE602B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Verified on Seeker</a:t>
            </a:r>
          </a:p>
        </p:txBody>
      </p:sp>
      <p:sp>
        <p:nvSpPr>
          <p:cNvPr id="7" name="device-body">
            <a:extLst xmlns:a="http://schemas.openxmlformats.org/drawingml/2006/main">
              <a:ext uri="{FF2B5EF4-FFF2-40B4-BE49-F238E27FC236}">
                <a16:creationId xmlns:a16="http://schemas.microsoft.com/office/drawing/2014/main" id="{46095806-F7B7-4808-92D6-636C400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51625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Wallet signing, ROUND creation
and loading saved on-chain data.</a:t>
            </a:r>
          </a:p>
        </p:txBody>
      </p:sp>
      <p:sp>
        <p:nvSpPr>
          <p:cNvPr id="8" name="scope-title">
            <a:extLst xmlns:a="http://schemas.openxmlformats.org/drawingml/2006/main">
              <a:ext uri="{FF2B5EF4-FFF2-40B4-BE49-F238E27FC236}">
                <a16:creationId xmlns:a16="http://schemas.microsoft.com/office/drawing/2014/main" id="{7A5162F7-6BB8-4432-B769-2BEC002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What the tests protect</a:t>
            </a:r>
          </a:p>
        </p:txBody>
      </p:sp>
      <p:sp>
        <p:nvSpPr>
          <p:cNvPr id="9" name="scope-body">
            <a:extLst xmlns:a="http://schemas.openxmlformats.org/drawingml/2006/main">
              <a:ext uri="{FF2B5EF4-FFF2-40B4-BE49-F238E27FC236}">
                <a16:creationId xmlns:a16="http://schemas.microsoft.com/office/drawing/2014/main" id="{37D4B771-08A3-4AF9-8657-08A3B3A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24450"/>
            <a:ext cx="51625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Payment windows, duplicate payments,
account substitution and withdrawals.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7A668FD-BD07-45C5-A15C-69A2CE7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E3EF7B6F-A083-4DDD-9AC7-41F05C4F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9705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8B5654B2-3077-4412-82D7-FE71C6E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NEXT STEPS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503951-0B72-4854-A6D6-46E35255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Start with small circles.
Earn the right to grow.</a:t>
            </a:r>
          </a:p>
        </p:txBody>
      </p:sp>
      <p:sp>
        <p:nvSpPr>
          <p:cNvPr id="3" name="first-title">
            <a:extLst xmlns:a="http://schemas.openxmlformats.org/drawingml/2006/main">
              <a:ext uri="{FF2B5EF4-FFF2-40B4-BE49-F238E27FC236}">
                <a16:creationId xmlns:a16="http://schemas.microsoft.com/office/drawing/2014/main" id="{7ECDDE78-3B48-4613-A778-9A82FD33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95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First users</a:t>
            </a:r>
          </a:p>
        </p:txBody>
      </p:sp>
      <p:sp>
        <p:nvSpPr>
          <p:cNvPr id="4" name="first-body">
            <a:extLst xmlns:a="http://schemas.openxmlformats.org/drawingml/2006/main">
              <a:ext uri="{FF2B5EF4-FFF2-40B4-BE49-F238E27FC236}">
                <a16:creationId xmlns:a16="http://schemas.microsoft.com/office/drawing/2014/main" id="{0E1AA899-5432-46F2-9DCD-C666FDAB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09587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Friends with one concrete goal:
a trip, a device, or a shared plan.
Each invitation brings the next saver.</a:t>
            </a:r>
          </a:p>
        </p:txBody>
      </p:sp>
      <p:sp>
        <p:nvSpPr>
          <p:cNvPr id="5" name="next-title">
            <a:extLst xmlns:a="http://schemas.openxmlformats.org/drawingml/2006/main">
              <a:ext uri="{FF2B5EF4-FFF2-40B4-BE49-F238E27FC236}">
                <a16:creationId xmlns:a16="http://schemas.microsoft.com/office/drawing/2014/main" id="{6057E05C-B48B-45DD-BE99-F7521988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5162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Next milestones</a:t>
            </a:r>
          </a:p>
        </p:txBody>
      </p:sp>
      <p:sp>
        <p:nvSpPr>
          <p:cNvPr id="6" name="next-body">
            <a:extLst xmlns:a="http://schemas.openxmlformats.org/drawingml/2006/main">
              <a:ext uri="{FF2B5EF4-FFF2-40B4-BE49-F238E27FC236}">
                <a16:creationId xmlns:a16="http://schemas.microsoft.com/office/drawing/2014/main" id="{2C4DC584-EC16-4D82-BE7A-E080E20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5162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Complete two-account device testing.
Validate reminders and recovery.
Review security before a mainnet pilot.</a:t>
            </a:r>
          </a:p>
        </p:txBody>
      </p:sp>
      <p:sp>
        <p:nvSpPr>
          <p:cNvPr id="7" name="ask">
            <a:extLst xmlns:a="http://schemas.openxmlformats.org/drawingml/2006/main">
              <a:ext uri="{FF2B5EF4-FFF2-40B4-BE49-F238E27FC236}">
                <a16:creationId xmlns:a16="http://schemas.microsoft.com/office/drawing/2014/main" id="{A328743C-AAA2-4280-BF69-F8C9FD37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Seeking feedback from Seeker users and Solana Mobile builders.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6AE65CD-059D-4738-818F-711B5B7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ED2A69D-A8A5-4606-A33F-0A25DD79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3880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272903D-2473-4DBE-B609-6B1115BA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102E97-1E7E-4E9A-B0FB-EE11AA6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Make consistency a shared habit.</a:t>
            </a:r>
          </a:p>
        </p:txBody>
      </p:sp>
      <p:sp>
        <p:nvSpPr>
          <p:cNvPr id="3" name="close">
            <a:extLst xmlns:a="http://schemas.openxmlformats.org/drawingml/2006/main">
              <a:ext uri="{FF2B5EF4-FFF2-40B4-BE49-F238E27FC236}">
                <a16:creationId xmlns:a16="http://schemas.microsoft.com/office/drawing/2014/main" id="{11A8E8F9-44C4-44E3-808B-0A9DEB40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83C30"/>
                </a:solidFill>
                <a:latin typeface="Arial"/>
                <a:ea typeface="Arial"/>
                <a:cs typeface="Arial"/>
              </a:defRPr>
            </a:pPr>
            <a:r>
              <a:t>Your goal.
Your people.
Your savings.</a:t>
            </a:r>
          </a:p>
        </p:txBody>
      </p:sp>
      <p:sp>
        <p:nvSpPr>
          <p:cNvPr id="4" name="repo">
            <a:extLst xmlns:a="http://schemas.openxmlformats.org/drawingml/2006/main">
              <a:ext uri="{FF2B5EF4-FFF2-40B4-BE49-F238E27FC236}">
                <a16:creationId xmlns:a16="http://schemas.microsoft.com/office/drawing/2014/main" id="{8B915A3A-B787-4728-84CD-EF1C5B81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1B"/>
                </a:solidFill>
                <a:latin typeface="Arial"/>
                <a:ea typeface="Arial"/>
                <a:cs typeface="Arial"/>
              </a:defRPr>
            </a:pPr>
            <a:r>
              <a:t>github.com/Oracle00999/round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78896F3-8E34-4940-A690-516B7DD6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ROUND  /  CLOCK IN 2026  /  Solana devnet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A000AAF-5F26-49E1-8135-862E874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75E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8095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2026-09-26T17:44:55.3510000Z</dcterms:created>
  <dcterms:modified xsi:type="dcterms:W3CDTF">2026-09-26T17:44:55.3510000Z</dcterms:modified>
</coreProperties>
</file>